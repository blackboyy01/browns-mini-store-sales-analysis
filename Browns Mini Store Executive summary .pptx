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 type="screen4x3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lineChart>
        <c:grouping val="none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ln w="44450" cap="flat" cmpd="sng" algn="ctr">
              <a:solidFill>
                <a:srgbClr val="7B4A2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B4A2D"/>
              </a:solidFill>
              <a:ln w="9525" cap="flat" cmpd="sng" algn="ctr">
                <a:solidFill>
                  <a:srgbClr val="7B4A2D"/>
                </a:solidFill>
                <a:prstDash val="solid"/>
                <a:round/>
              </a:ln>
              <a:effectLst/>
            </c:spPr>
          </c:marker>
          <c:dLbls>
            <c:dLbl>
              <c:idx val="0"/>
              <c:delete val="1"/>
            </c:dLbl>
            <c:dLbl>
              <c:idx val="1"/>
              <c:delete val="1"/>
            </c:dLbl>
            <c:dLbl>
              <c:idx val="2"/>
              <c:delete val="1"/>
            </c:dLbl>
            <c:dLbl>
              <c:idx val="3"/>
              <c:delete val="1"/>
            </c:dLbl>
            <c:dLbl>
              <c:idx val="4"/>
              <c:delete val="1"/>
            </c:dLbl>
            <c:dLbl>
              <c:idx val="5"/>
              <c:delete val="1"/>
            </c:dLbl>
            <c:dLbl>
              <c:idx val="6"/>
              <c:delete val="1"/>
            </c:dLbl>
            <c:dLbl>
              <c:idx val="7"/>
              <c:delete val="1"/>
            </c:dLbl>
            <c:dLbl>
              <c:idx val="8"/>
              <c:delete val="1"/>
            </c:dLbl>
            <c:dLbl>
              <c:idx val="9"/>
              <c:delete val="1"/>
            </c:dLbl>
            <c:dLbl>
              <c:idx val="10"/>
              <c:delete val="1"/>
            </c:dLbl>
            <c:dLbl>
              <c:idx val="11"/>
              <c:delete val="1"/>
            </c:dLbl>
            <c:dLbl>
              <c:idx val="12"/>
              <c:delete val="1"/>
            </c:dLbl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AU" sz="1200" b="0" i="0" u="none" strike="noStrike" kern="1200">
                    <a:solidFill>
                      <a:srgbClr val="000000"/>
                    </a:solidFill>
                    <a:latin typeface="Arial" charset="0"/>
                    <a:ea typeface="+mn-ea"/>
                    <a:cs typeface="+mn-cs"/>
                  </a:defRPr>
                </a:pPr>
              </a:p>
            </c:txPr>
            <c:dLblPos val="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numRef>
              <c:f>Sheet1!$A$2:$A$14</c:f>
              <c:numCache>
                <c:formatCode>General</c:formatCode>
                <c:ptCount val="13"/>
                <c:pt idx="0">
                  <c:v>1983</c:v>
                </c:pt>
                <c:pt idx="1">
                  <c:v>1984</c:v>
                </c:pt>
                <c:pt idx="2">
                  <c:v>1985</c:v>
                </c:pt>
                <c:pt idx="3">
                  <c:v>1986</c:v>
                </c:pt>
                <c:pt idx="4">
                  <c:v>1988</c:v>
                </c:pt>
                <c:pt idx="5">
                  <c:v>1990</c:v>
                </c:pt>
                <c:pt idx="6">
                  <c:v>1993</c:v>
                </c:pt>
                <c:pt idx="7">
                  <c:v>1995</c:v>
                </c:pt>
                <c:pt idx="8">
                  <c:v>1998</c:v>
                </c:pt>
                <c:pt idx="9">
                  <c:v>2001</c:v>
                </c:pt>
                <c:pt idx="10">
                  <c:v>2004</c:v>
                </c:pt>
                <c:pt idx="11">
                  <c:v>2007</c:v>
                </c:pt>
                <c:pt idx="12">
                  <c:v>2009</c:v>
                </c:pt>
              </c:numCache>
            </c:num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2100</c:v>
                </c:pt>
                <c:pt idx="1">
                  <c:v>2900</c:v>
                </c:pt>
                <c:pt idx="2">
                  <c:v>3630</c:v>
                </c:pt>
                <c:pt idx="3">
                  <c:v>3100</c:v>
                </c:pt>
                <c:pt idx="4">
                  <c:v>2200</c:v>
                </c:pt>
                <c:pt idx="5">
                  <c:v>1500</c:v>
                </c:pt>
                <c:pt idx="6">
                  <c:v>900</c:v>
                </c:pt>
                <c:pt idx="7">
                  <c:v>600</c:v>
                </c:pt>
                <c:pt idx="8">
                  <c:v>190</c:v>
                </c:pt>
                <c:pt idx="9">
                  <c:v>420</c:v>
                </c:pt>
                <c:pt idx="10">
                  <c:v>780</c:v>
                </c:pt>
                <c:pt idx="11">
                  <c:v>1200</c:v>
                </c:pt>
                <c:pt idx="12">
                  <c:v>1850</c:v>
                </c:pt>
              </c:numCache>
            </c:numRef>
          </c:val>
          <c:smooth val="1"/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1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AU" sz="1200" b="0" i="0" u="none" strike="noStrike" kern="1200">
                <a:solidFill>
                  <a:srgbClr val="9C7A5E"/>
                </a:solidFill>
                <a:latin typeface="Arial" charset="0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DE0C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AU" sz="1200" b="0" i="0" u="none" strike="noStrike" kern="1200">
                <a:solidFill>
                  <a:srgbClr val="9C7A5E"/>
                </a:solidFill>
                <a:latin typeface="Arial" charset="0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</c:chart>
  <c:spPr>
    <a:solidFill>
      <a:srgbClr val="FAF6F1"/>
    </a:solidFill>
    <a:ln>
      <a:noFill/>
    </a:ln>
    <a:effectLst/>
  </c:spPr>
  <c:txPr>
    <a:bodyPr/>
    <a:lstStyle/>
    <a:p>
      <a:pPr>
        <a:defRPr lang="en-AU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($M)</c:v>
                </c:pt>
              </c:strCache>
            </c:strRef>
          </c:tx>
          <c:spPr>
            <a:solidFill>
              <a:srgbClr val="4A2C1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A2C1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4A2D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B0784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83232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AU" sz="1100" b="0" i="0" u="none" strike="noStrike" kern="1200">
                    <a:solidFill>
                      <a:srgbClr val="2C1A0E"/>
                    </a:solidFill>
                    <a:latin typeface="Arial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Sheet1!$A$2:$A$5</c:f>
              <c:strCache>
                <c:ptCount val="4"/>
                <c:pt idx="0">
                  <c:v>Type 3</c:v>
                </c:pt>
                <c:pt idx="1">
                  <c:v>Type 1</c:v>
                </c:pt>
                <c:pt idx="2">
                  <c:v>Type 2</c:v>
                </c:pt>
                <c:pt idx="3">
                  <c:v>Grocery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3.69</c:v>
                </c:pt>
                <c:pt idx="1">
                  <c:v>2.32</c:v>
                </c:pt>
                <c:pt idx="2">
                  <c:v>1.99</c:v>
                </c:pt>
                <c:pt idx="3">
                  <c:v>0.00034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AU" sz="1200" b="0" i="0" u="none" strike="noStrike" kern="1200">
                <a:solidFill>
                  <a:srgbClr val="5C3D22"/>
                </a:solidFill>
                <a:latin typeface="Arial" charset="0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 cmpd="sng" algn="ctr">
              <a:solidFill>
                <a:srgbClr val="EDE0C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AU" sz="1200" b="0" i="0" u="none" strike="noStrike" kern="1200">
                <a:solidFill>
                  <a:srgbClr val="9C7A5E"/>
                </a:solidFill>
                <a:latin typeface="Arial" charset="0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</c:chart>
  <c:spPr>
    <a:solidFill>
      <a:srgbClr val="FFFFFF"/>
    </a:solidFill>
    <a:ln>
      <a:noFill/>
    </a:ln>
    <a:effectLst/>
  </c:spPr>
  <c:txPr>
    <a:bodyPr/>
    <a:lstStyle/>
    <a:p>
      <a:pPr>
        <a:defRPr lang="en-AU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4A2C1A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4A2C1A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4A2C1A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4A2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7B4A2D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B07840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B07840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B83232"/>
              </a:solidFill>
              <a:effectLst/>
            </c:spPr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AU" sz="900" b="0" i="0" u="none" strike="noStrike" kern="1200">
                    <a:solidFill>
                      <a:srgbClr val="2C1A0E"/>
                    </a:solidFill>
                    <a:latin typeface="Arial" charset="0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Sheet1!$A$2:$A$8</c:f>
              <c:strCache>
                <c:ptCount val="7"/>
                <c:pt idx="0">
                  <c:v>Fruits &amp;Vegetables</c:v>
                </c:pt>
                <c:pt idx="1">
                  <c:v>Snack Foods</c:v>
                </c:pt>
                <c:pt idx="2">
                  <c:v>Household</c:v>
                </c:pt>
                <c:pt idx="3">
                  <c:v>Frozen
Foods</c:v>
                </c:pt>
                <c:pt idx="4">
                  <c:v>Dairy</c:v>
                </c:pt>
                <c:pt idx="5">
                  <c:v>Canned
Goods</c:v>
                </c:pt>
                <c:pt idx="6">
                  <c:v>Seafood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3000</c:v>
                </c:pt>
                <c:pt idx="1">
                  <c:v>3000</c:v>
                </c:pt>
                <c:pt idx="2">
                  <c:v>1800</c:v>
                </c:pt>
                <c:pt idx="3">
                  <c:v>1600</c:v>
                </c:pt>
                <c:pt idx="4">
                  <c:v>1400</c:v>
                </c:pt>
                <c:pt idx="5">
                  <c:v>900</c:v>
                </c:pt>
                <c:pt idx="6">
                  <c:v>149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AU" sz="1200" b="0" i="0" u="none" strike="noStrike" kern="1200">
                <a:solidFill>
                  <a:srgbClr val="5C3D22"/>
                </a:solidFill>
                <a:latin typeface="Arial" charset="0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 cmpd="sng" algn="ctr">
              <a:solidFill>
                <a:srgbClr val="EDE0C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AU" sz="1200" b="0" i="0" u="none" strike="noStrike" kern="1200">
                <a:solidFill>
                  <a:srgbClr val="9C7A5E"/>
                </a:solidFill>
                <a:latin typeface="Arial" charset="0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</c:chart>
  <c:spPr>
    <a:solidFill>
      <a:srgbClr val="FFFFFF"/>
    </a:solidFill>
    <a:ln>
      <a:noFill/>
    </a:ln>
    <a:effectLst/>
  </c:spPr>
  <c:txPr>
    <a:bodyPr/>
    <a:lstStyle/>
    <a:p>
      <a:pPr>
        <a:defRPr lang="en-AU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14:cpLocks xmlns:a14="http://schemas.microsoft.com/office/drawing/2010/main"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14:cpLocks xmlns:a14="http://schemas.microsoft.com/office/drawing/2010/main"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14:cpLocks xmlns:a14="http://schemas.microsoft.com/office/drawing/2010/main"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14:cpLocks xmlns:a14="http://schemas.microsoft.com/office/drawing/2010/main"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14:cpLocks xmlns:a14="http://schemas.microsoft.com/office/drawing/2010/main"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14:cpLocks xmlns:a14="http://schemas.microsoft.com/office/drawing/2010/main"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14:cpLocks xmlns:a14="http://schemas.microsoft.com/office/drawing/2010/main"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14:cpLocks xmlns:a14="http://schemas.microsoft.com/office/drawing/2010/main"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14:cpLocks xmlns:a14="http://schemas.microsoft.com/office/drawing/2010/main"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chart" Target="../charts/char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937760" y="0"/>
            <a:ext cx="640080" cy="5143500"/>
          </a:xfrm>
          <a:prstGeom prst="rect">
            <a:avLst/>
          </a:prstGeom>
          <a:solidFill>
            <a:srgbClr val="4A2C1A"/>
          </a:solidFill>
          <a:ln w="12700">
            <a:solidFill>
              <a:srgbClr val="4A2C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0" y="109855"/>
            <a:ext cx="274320" cy="5143500"/>
          </a:xfrm>
          <a:prstGeom prst="rect">
            <a:avLst/>
          </a:prstGeom>
          <a:solidFill>
            <a:srgbClr val="7B4A2D"/>
          </a:solidFill>
          <a:ln w="12700">
            <a:solidFill>
              <a:srgbClr val="7B4A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0"/>
            <a:ext cx="5303520" cy="109728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5033772"/>
            <a:ext cx="5303520" cy="109728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" y="2560320"/>
            <a:ext cx="3200400" cy="22860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0" b="1" dirty="0">
                <a:solidFill>
                  <a:srgbClr val="4A2C1A">
                    <a:alpha val="40000"/>
                  </a:srgbClr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01</a:t>
            </a:r>
            <a:endParaRPr lang="en-US" sz="16000" dirty="0"/>
          </a:p>
        </p:txBody>
      </p:sp>
      <p:sp>
        <p:nvSpPr>
          <p:cNvPr id="8" name="Text 6"/>
          <p:cNvSpPr/>
          <p:nvPr/>
        </p:nvSpPr>
        <p:spPr>
          <a:xfrm>
            <a:off x="411480" y="475488"/>
            <a:ext cx="4572000" cy="3200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b="1" kern="0" spc="500" dirty="0">
                <a:solidFill>
                  <a:srgbClr val="C9963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BROWN'S MINI STORE</a:t>
            </a:r>
            <a:endParaRPr lang="en-US" b="1" kern="0" spc="500" dirty="0">
              <a:solidFill>
                <a:srgbClr val="C9963A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411480" y="914400"/>
            <a:ext cx="4572000" cy="23317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Sales &amp;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Performance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Analysis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11480" y="3337560"/>
            <a:ext cx="4389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i="1" dirty="0">
                <a:solidFill>
                  <a:srgbClr val="D6C4A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Outlets · Categories · SKUs · Strategy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368925" y="3429000"/>
            <a:ext cx="3583305" cy="731520"/>
          </a:xfrm>
          <a:prstGeom prst="rect">
            <a:avLst/>
          </a:prstGeom>
          <a:solidFill>
            <a:srgbClr val="EDE0CE"/>
          </a:solidFill>
          <a:ln w="12700">
            <a:solidFill>
              <a:srgbClr val="D6C4A8"/>
            </a:solidFill>
            <a:prstDash val="solid"/>
          </a:ln>
        </p:spPr>
      </p:sp>
      <p:sp>
        <p:nvSpPr>
          <p:cNvPr id="24" name="Text 8"/>
          <p:cNvSpPr/>
          <p:nvPr/>
        </p:nvSpPr>
        <p:spPr>
          <a:xfrm>
            <a:off x="5368925" y="3621405"/>
            <a:ext cx="4389120" cy="34734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AU" altLang="en-US" sz="1400" b="1" dirty="0"/>
              <a:t>BY: ADEBISI FAROUK</a:t>
            </a:r>
            <a:endParaRPr lang="en-AU" altLang="en-US" sz="1400" b="1" dirty="0"/>
          </a:p>
          <a:p>
            <a:pPr marL="0" indent="0" algn="l">
              <a:buNone/>
            </a:pPr>
            <a:r>
              <a:rPr lang="en-AU" altLang="en-US" sz="1400" b="1" dirty="0"/>
              <a:t>DATA ANALYST/BUSINESS ANALYST</a:t>
            </a:r>
            <a:endParaRPr lang="en-AU" altLang="en-US" sz="14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-274320"/>
            <a:ext cx="22860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EDE0CE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02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59436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A2C1A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EXECUTIVE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59436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9C7A5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Key metrics and findings across time, outlets, categories, and SKUs</a:t>
            </a:r>
            <a:endParaRPr lang="en-US" sz="1600" b="1" i="1" dirty="0">
              <a:solidFill>
                <a:srgbClr val="9C7A5E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778240" y="0"/>
            <a:ext cx="365760" cy="5143500"/>
          </a:xfrm>
          <a:prstGeom prst="rect">
            <a:avLst/>
          </a:prstGeom>
          <a:solidFill>
            <a:srgbClr val="EDE0CE"/>
          </a:solidFill>
          <a:ln w="12700">
            <a:solidFill>
              <a:srgbClr val="EDE0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B07840"/>
          </a:solidFill>
          <a:ln w="12700">
            <a:solidFill>
              <a:srgbClr val="B078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05840"/>
            <a:ext cx="3977640" cy="1078992"/>
          </a:xfrm>
          <a:prstGeom prst="rect">
            <a:avLst/>
          </a:prstGeom>
          <a:solidFill>
            <a:srgbClr val="FAF6F1"/>
          </a:solidFill>
          <a:ln w="12700">
            <a:solidFill>
              <a:srgbClr val="D6C4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94360" y="1115568"/>
            <a:ext cx="3657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4A2C1A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8,523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94360" y="166420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C7A5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Total Transactions</a:t>
            </a:r>
            <a:endParaRPr lang="en-US" sz="1400" b="1" dirty="0">
              <a:solidFill>
                <a:srgbClr val="9C7A5E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0" name="Shape 8"/>
          <p:cNvSpPr/>
          <p:nvPr/>
        </p:nvSpPr>
        <p:spPr>
          <a:xfrm>
            <a:off x="411480" y="2011680"/>
            <a:ext cx="3977640" cy="73152"/>
          </a:xfrm>
          <a:prstGeom prst="rect">
            <a:avLst/>
          </a:prstGeom>
          <a:solidFill>
            <a:srgbClr val="4A2C1A"/>
          </a:solidFill>
          <a:ln w="12700">
            <a:solidFill>
              <a:srgbClr val="4A2C1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17720" y="1005840"/>
            <a:ext cx="3977640" cy="1078992"/>
          </a:xfrm>
          <a:prstGeom prst="rect">
            <a:avLst/>
          </a:prstGeom>
          <a:solidFill>
            <a:srgbClr val="FAF6F1"/>
          </a:solidFill>
          <a:ln w="12700">
            <a:solidFill>
              <a:srgbClr val="D6C4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800600" y="1115568"/>
            <a:ext cx="3657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7B4A2D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$3.69M</a:t>
            </a:r>
            <a:endParaRPr lang="en-US" sz="2800" dirty="0"/>
          </a:p>
        </p:txBody>
      </p:sp>
      <p:sp>
        <p:nvSpPr>
          <p:cNvPr id="15" name="Shape 13"/>
          <p:cNvSpPr/>
          <p:nvPr/>
        </p:nvSpPr>
        <p:spPr>
          <a:xfrm>
            <a:off x="411480" y="2240280"/>
            <a:ext cx="3977640" cy="1078992"/>
          </a:xfrm>
          <a:prstGeom prst="rect">
            <a:avLst/>
          </a:prstGeom>
          <a:solidFill>
            <a:srgbClr val="FAF6F1"/>
          </a:solidFill>
          <a:ln w="12700">
            <a:solidFill>
              <a:srgbClr val="D6C4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94360" y="2350008"/>
            <a:ext cx="3657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B07840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~$3M 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594360" y="289864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AU" altLang="en-US" sz="1000" dirty="0"/>
              <a:t>FRUITS AND VEGETABLES: MOST SOLD ITEM</a:t>
            </a:r>
            <a:endParaRPr lang="en-AU" alt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11480" y="3246120"/>
            <a:ext cx="3977640" cy="73152"/>
          </a:xfrm>
          <a:prstGeom prst="rect">
            <a:avLst/>
          </a:prstGeom>
          <a:solidFill>
            <a:srgbClr val="B07840"/>
          </a:solidFill>
          <a:ln w="12700">
            <a:solidFill>
              <a:srgbClr val="B0784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17720" y="2240280"/>
            <a:ext cx="3977640" cy="1078992"/>
          </a:xfrm>
          <a:prstGeom prst="rect">
            <a:avLst/>
          </a:prstGeom>
          <a:solidFill>
            <a:srgbClr val="FAF6F1"/>
          </a:solidFill>
          <a:ln w="12700">
            <a:solidFill>
              <a:srgbClr val="D6C4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00600" y="2350008"/>
            <a:ext cx="3657600" cy="5303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B83232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94.8%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800600" y="289864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9C7A5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Revenue Drop 1985 → 1998</a:t>
            </a:r>
            <a:endParaRPr lang="en-US" sz="1400" b="1" dirty="0">
              <a:solidFill>
                <a:srgbClr val="9C7A5E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2" name="Shape 20"/>
          <p:cNvSpPr/>
          <p:nvPr/>
        </p:nvSpPr>
        <p:spPr>
          <a:xfrm>
            <a:off x="4617720" y="3246120"/>
            <a:ext cx="3977640" cy="73152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3511296"/>
            <a:ext cx="3977640" cy="1389888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12648" y="359359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63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Revenue &amp; Resilience</a:t>
            </a:r>
            <a:endParaRPr lang="en-US" sz="1400" b="1" dirty="0">
              <a:solidFill>
                <a:srgbClr val="C9963A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5" name="Text 23"/>
          <p:cNvSpPr/>
          <p:nvPr/>
        </p:nvSpPr>
        <p:spPr>
          <a:xfrm>
            <a:off x="612648" y="3913632"/>
            <a:ext cx="356616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C4A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Peak $3.63M in 1985 → crashed 94.8% to $190K by 1998 → recovered 873% to $1.85M by 2009. Sensitive to shocks but with strong rebound capacity.</a:t>
            </a:r>
            <a:endParaRPr lang="en-US" sz="1000" b="1" dirty="0">
              <a:solidFill>
                <a:srgbClr val="D6C4A8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4617720" y="3511296"/>
            <a:ext cx="3977640" cy="1389888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818888" y="3593592"/>
            <a:ext cx="35661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63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Structure &amp; Concentration</a:t>
            </a:r>
            <a:endParaRPr lang="en-US" sz="1400" b="1" dirty="0">
              <a:solidFill>
                <a:srgbClr val="C9963A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4818888" y="3913632"/>
            <a:ext cx="3566160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D6C4A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Type 3 dominates outlets. Fruits/Veg + Snack Foods dominate categories at ~$3M each. Top 2 SKUs (FDQ04, FDF38) lead by wide margin</a:t>
            </a:r>
            <a:r>
              <a:rPr lang="en-AU" altLang="en-US" sz="1000" b="1" dirty="0">
                <a:solidFill>
                  <a:srgbClr val="D6C4A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.</a:t>
            </a:r>
            <a:endParaRPr lang="en-AU" altLang="en-US" sz="1000" b="1" dirty="0">
              <a:solidFill>
                <a:srgbClr val="D6C4A8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32" name="Shape 12"/>
          <p:cNvSpPr/>
          <p:nvPr/>
        </p:nvSpPr>
        <p:spPr>
          <a:xfrm>
            <a:off x="4830445" y="1981200"/>
            <a:ext cx="3977640" cy="73025"/>
          </a:xfrm>
          <a:prstGeom prst="rect">
            <a:avLst/>
          </a:prstGeom>
          <a:solidFill>
            <a:srgbClr val="7B4A2D"/>
          </a:solidFill>
          <a:ln w="12700">
            <a:solidFill>
              <a:srgbClr val="7B4A2D"/>
            </a:solidFill>
            <a:prstDash val="solid"/>
          </a:ln>
        </p:spPr>
      </p:sp>
      <p:sp>
        <p:nvSpPr>
          <p:cNvPr id="34" name="Text 11"/>
          <p:cNvSpPr/>
          <p:nvPr/>
        </p:nvSpPr>
        <p:spPr>
          <a:xfrm>
            <a:off x="4739640" y="1568450"/>
            <a:ext cx="3782060" cy="40322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9C7A5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Supermarket Type 3 Revenue</a:t>
            </a:r>
            <a:r>
              <a:rPr lang="en-AU" altLang="en-US" sz="1200" b="1" dirty="0">
                <a:solidFill>
                  <a:srgbClr val="9C7A5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: Outlet with the highest ROI.</a:t>
            </a:r>
            <a:endParaRPr lang="en-AU" altLang="en-US" sz="1200" b="1" dirty="0">
              <a:solidFill>
                <a:srgbClr val="9C7A5E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-274320"/>
            <a:ext cx="22860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EDE0CE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03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6400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A2C1A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REVENUE TREND OVER TIME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6400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i="1" dirty="0">
                <a:solidFill>
                  <a:srgbClr val="9C7A5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1983–2009  ·  Peak, collapse, and recovery arc</a:t>
            </a:r>
            <a:endParaRPr lang="en-US" sz="1400" b="1" i="1" dirty="0">
              <a:solidFill>
                <a:srgbClr val="9C7A5E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B07840"/>
          </a:solidFill>
          <a:ln w="12700">
            <a:solidFill>
              <a:srgbClr val="B07840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65760" y="914400"/>
          <a:ext cx="5577840" cy="3749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6172200" y="960120"/>
            <a:ext cx="2560320" cy="1115568"/>
          </a:xfrm>
          <a:prstGeom prst="rect">
            <a:avLst/>
          </a:prstGeom>
          <a:solidFill>
            <a:srgbClr val="FAF6F1"/>
          </a:solidFill>
          <a:ln w="12700">
            <a:solidFill>
              <a:srgbClr val="D6C4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309360" y="10241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4A2C1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1985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309360" y="128016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4A2C1A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$3.63M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6309360" y="1746504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7A5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All-time peak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172200" y="2240280"/>
            <a:ext cx="2560320" cy="1115568"/>
          </a:xfrm>
          <a:prstGeom prst="rect">
            <a:avLst/>
          </a:prstGeom>
          <a:solidFill>
            <a:srgbClr val="FCF0EE"/>
          </a:solidFill>
          <a:ln w="12700">
            <a:solidFill>
              <a:srgbClr val="D6C4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309360" y="23042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832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1998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309360" y="256032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B83232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$190K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309360" y="3026664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C7A5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−94.8% from peak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172200" y="3520440"/>
            <a:ext cx="2560320" cy="1115568"/>
          </a:xfrm>
          <a:prstGeom prst="rect">
            <a:avLst/>
          </a:prstGeom>
          <a:solidFill>
            <a:srgbClr val="FAF6F1"/>
          </a:solidFill>
          <a:ln w="12700">
            <a:solidFill>
              <a:srgbClr val="D6C4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309360" y="358444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B0784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2009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6309360" y="3840480"/>
            <a:ext cx="22860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B07840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$1.85M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6309360" y="4306824"/>
            <a:ext cx="22860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C7A5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+873% from low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" cy="5143500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91840" y="0"/>
            <a:ext cx="164592" cy="5143500"/>
          </a:xfrm>
          <a:prstGeom prst="rect">
            <a:avLst/>
          </a:prstGeom>
          <a:solidFill>
            <a:srgbClr val="B07840"/>
          </a:solidFill>
          <a:ln w="12700">
            <a:solidFill>
              <a:srgbClr val="B078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37160" y="91440"/>
            <a:ext cx="182880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8000" b="1" dirty="0">
                <a:solidFill>
                  <a:srgbClr val="4A2C1A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04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228600" y="1188720"/>
            <a:ext cx="2834640" cy="8686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OUTLET</a:t>
            </a:r>
            <a:endParaRPr lang="en-US" sz="2000" dirty="0"/>
          </a:p>
          <a:p>
            <a:pPr marL="0" indent="0" algn="l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PERFORMANCE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28600" y="2121408"/>
            <a:ext cx="28346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D6C4A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Revenue comparison</a:t>
            </a:r>
            <a:endParaRPr lang="en-US" sz="1200" b="1" dirty="0"/>
          </a:p>
          <a:p>
            <a:pPr marL="0" indent="0" algn="l">
              <a:buNone/>
            </a:pPr>
            <a:r>
              <a:rPr lang="en-US" sz="1200" b="1" i="1" dirty="0">
                <a:solidFill>
                  <a:srgbClr val="D6C4A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across all outlet formats</a:t>
            </a:r>
            <a:endParaRPr lang="en-US" sz="1200" b="1" dirty="0"/>
          </a:p>
        </p:txBody>
      </p:sp>
      <p:sp>
        <p:nvSpPr>
          <p:cNvPr id="7" name="Shape 5"/>
          <p:cNvSpPr/>
          <p:nvPr/>
        </p:nvSpPr>
        <p:spPr>
          <a:xfrm>
            <a:off x="182880" y="2761488"/>
            <a:ext cx="2880360" cy="457200"/>
          </a:xfrm>
          <a:prstGeom prst="rect">
            <a:avLst/>
          </a:prstGeom>
          <a:solidFill>
            <a:srgbClr val="4A2C1A"/>
          </a:solidFill>
          <a:ln w="12700">
            <a:solidFill>
              <a:srgbClr val="7B4A2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2798064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Supermarket Type 3</a:t>
            </a:r>
            <a:endParaRPr lang="en-US" sz="1000" b="1" dirty="0">
              <a:solidFill>
                <a:srgbClr val="FFFFFF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320040" y="2999232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963A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$3.69M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70432" y="2999232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9C7A5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top performer</a:t>
            </a:r>
            <a:endParaRPr lang="en-US" sz="900" b="1" i="1" dirty="0">
              <a:solidFill>
                <a:srgbClr val="9C7A5E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82880" y="3291840"/>
            <a:ext cx="2880360" cy="457200"/>
          </a:xfrm>
          <a:prstGeom prst="rect">
            <a:avLst/>
          </a:prstGeom>
          <a:solidFill>
            <a:srgbClr val="4A2C1A"/>
          </a:solidFill>
          <a:ln w="12700">
            <a:solidFill>
              <a:srgbClr val="7B4A2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3328416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Supermarket Type 1</a:t>
            </a:r>
            <a:endParaRPr lang="en-US" sz="1200" b="1" dirty="0">
              <a:solidFill>
                <a:srgbClr val="FFFFFF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320040" y="3529584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C4A8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$2.32M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70432" y="3529584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9C7A5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−37% vs Type 3</a:t>
            </a:r>
            <a:endParaRPr lang="en-US" sz="900" b="1" i="1" dirty="0">
              <a:solidFill>
                <a:srgbClr val="9C7A5E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182880" y="3822192"/>
            <a:ext cx="2880360" cy="457200"/>
          </a:xfrm>
          <a:prstGeom prst="rect">
            <a:avLst/>
          </a:prstGeom>
          <a:solidFill>
            <a:srgbClr val="4A2C1A"/>
          </a:solidFill>
          <a:ln w="12700">
            <a:solidFill>
              <a:srgbClr val="7B4A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858768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Supermarket Type 2</a:t>
            </a:r>
            <a:endParaRPr lang="en-US" sz="1200" b="1" dirty="0">
              <a:solidFill>
                <a:srgbClr val="FFFFFF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7" name="Text 15"/>
          <p:cNvSpPr/>
          <p:nvPr/>
        </p:nvSpPr>
        <p:spPr>
          <a:xfrm>
            <a:off x="320040" y="4059936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6C4A8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$1.99M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70432" y="4059936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9C7A5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−46% vs Type 3</a:t>
            </a:r>
            <a:endParaRPr lang="en-US" sz="900" b="1" i="1" dirty="0">
              <a:solidFill>
                <a:srgbClr val="9C7A5E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9" name="Shape 17"/>
          <p:cNvSpPr/>
          <p:nvPr/>
        </p:nvSpPr>
        <p:spPr>
          <a:xfrm>
            <a:off x="182880" y="4352544"/>
            <a:ext cx="2880360" cy="457200"/>
          </a:xfrm>
          <a:prstGeom prst="rect">
            <a:avLst/>
          </a:prstGeom>
          <a:solidFill>
            <a:srgbClr val="4A2C1A"/>
          </a:solidFill>
          <a:ln w="12700">
            <a:solidFill>
              <a:srgbClr val="7B4A2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0040" y="4389120"/>
            <a:ext cx="150876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Grocery Store</a:t>
            </a:r>
            <a:endParaRPr lang="en-US" sz="1200" b="1" dirty="0">
              <a:solidFill>
                <a:srgbClr val="FFFFFF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20040" y="4590288"/>
            <a:ext cx="8229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3232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$339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170432" y="4590288"/>
            <a:ext cx="173736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i="1" dirty="0">
                <a:solidFill>
                  <a:srgbClr val="9C7A5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critically low</a:t>
            </a:r>
            <a:endParaRPr lang="en-US" sz="900" b="1" i="1" dirty="0">
              <a:solidFill>
                <a:srgbClr val="9C7A5E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graphicFrame>
        <p:nvGraphicFramePr>
          <p:cNvPr id="23" name="Chart 0"/>
          <p:cNvGraphicFramePr/>
          <p:nvPr/>
        </p:nvGraphicFramePr>
        <p:xfrm>
          <a:off x="3657600" y="457200"/>
          <a:ext cx="5074920" cy="4251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24" name="Shape 21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B07840"/>
          </a:solidFill>
          <a:ln w="12700">
            <a:solidFill>
              <a:srgbClr val="B07840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-274320"/>
            <a:ext cx="22860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EDE0CE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05</a:t>
            </a:r>
            <a:endParaRPr lang="en-US" sz="1200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365760" y="960120"/>
          <a:ext cx="5029200" cy="2971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3" name="Text 1"/>
          <p:cNvSpPr/>
          <p:nvPr/>
        </p:nvSpPr>
        <p:spPr>
          <a:xfrm>
            <a:off x="411480" y="256032"/>
            <a:ext cx="7315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A2C1A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CATEGORY &amp; </a:t>
            </a:r>
            <a:r>
              <a:rPr lang="en-AU" altLang="en-US" sz="2200" b="1" dirty="0">
                <a:solidFill>
                  <a:srgbClr val="4A2C1A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STOCK KEEPING UNITS(SKUs) </a:t>
            </a:r>
            <a:r>
              <a:rPr lang="en-US" sz="2200" b="1" dirty="0">
                <a:solidFill>
                  <a:srgbClr val="4A2C1A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PERFORMANCE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73152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9C7A5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Revenue distribution across product categories and top/bottom SKUs</a:t>
            </a:r>
            <a:endParaRPr lang="en-US" sz="1600" b="1" i="1" dirty="0">
              <a:solidFill>
                <a:srgbClr val="9C7A5E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B07840"/>
          </a:solidFill>
          <a:ln w="12700">
            <a:solidFill>
              <a:srgbClr val="B0784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577840" y="9875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0784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TOP SKUs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577840" y="1353312"/>
            <a:ext cx="3108960" cy="594360"/>
          </a:xfrm>
          <a:prstGeom prst="rect">
            <a:avLst/>
          </a:prstGeom>
          <a:solidFill>
            <a:srgbClr val="FAF6F1"/>
          </a:solidFill>
          <a:ln w="12700">
            <a:solidFill>
              <a:srgbClr val="D6C4A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577840" y="1353312"/>
            <a:ext cx="64008" cy="594360"/>
          </a:xfrm>
          <a:prstGeom prst="rect">
            <a:avLst/>
          </a:prstGeom>
          <a:solidFill>
            <a:srgbClr val="4A2C1A"/>
          </a:solidFill>
          <a:ln w="12700">
            <a:solidFill>
              <a:srgbClr val="4A2C1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715000" y="1408176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C1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FDQ04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6583680" y="1408176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A2C1A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$784.31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715000" y="1682496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9C7A5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Top performer</a:t>
            </a:r>
            <a:endParaRPr lang="en-US" sz="1000" b="1" i="1" dirty="0">
              <a:solidFill>
                <a:srgbClr val="9C7A5E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3" name="Shape 10"/>
          <p:cNvSpPr/>
          <p:nvPr/>
        </p:nvSpPr>
        <p:spPr>
          <a:xfrm>
            <a:off x="5577840" y="2066544"/>
            <a:ext cx="3108960" cy="594360"/>
          </a:xfrm>
          <a:prstGeom prst="rect">
            <a:avLst/>
          </a:prstGeom>
          <a:solidFill>
            <a:srgbClr val="FAF6F1"/>
          </a:solidFill>
          <a:ln w="12700">
            <a:solidFill>
              <a:srgbClr val="D6C4A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577840" y="2066544"/>
            <a:ext cx="64008" cy="594360"/>
          </a:xfrm>
          <a:prstGeom prst="rect">
            <a:avLst/>
          </a:prstGeom>
          <a:solidFill>
            <a:srgbClr val="4A2C1A"/>
          </a:solidFill>
          <a:ln w="12700">
            <a:solidFill>
              <a:srgbClr val="4A2C1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715000" y="2121408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A2C1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FDF38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6583680" y="2121408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4A2C1A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$771.66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715000" y="2395728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9C7A5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Near-top tier</a:t>
            </a:r>
            <a:endParaRPr lang="en-US" sz="1000" b="1" i="1" dirty="0">
              <a:solidFill>
                <a:srgbClr val="9C7A5E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8" name="Shape 15"/>
          <p:cNvSpPr/>
          <p:nvPr/>
        </p:nvSpPr>
        <p:spPr>
          <a:xfrm>
            <a:off x="5577840" y="2779776"/>
            <a:ext cx="310896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4A8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577840" y="2779776"/>
            <a:ext cx="64008" cy="594360"/>
          </a:xfrm>
          <a:prstGeom prst="rect">
            <a:avLst/>
          </a:prstGeom>
          <a:solidFill>
            <a:srgbClr val="7B4A2D"/>
          </a:solidFill>
          <a:ln w="12700">
            <a:solidFill>
              <a:srgbClr val="7B4A2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715000" y="2834640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7B4A2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FDY43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6583680" y="2834640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7B4A2D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$673.79</a:t>
            </a:r>
            <a:endParaRPr lang="en-US" sz="1300" dirty="0"/>
          </a:p>
        </p:txBody>
      </p:sp>
      <p:sp>
        <p:nvSpPr>
          <p:cNvPr id="22" name="Text 19"/>
          <p:cNvSpPr/>
          <p:nvPr/>
        </p:nvSpPr>
        <p:spPr>
          <a:xfrm>
            <a:off x="5715000" y="3108960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i="1" dirty="0">
                <a:solidFill>
                  <a:srgbClr val="9C7A5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14–16% from top</a:t>
            </a:r>
            <a:endParaRPr lang="en-US" sz="1000" b="1" i="1" dirty="0">
              <a:solidFill>
                <a:srgbClr val="9C7A5E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3" name="Shape 20"/>
          <p:cNvSpPr/>
          <p:nvPr/>
        </p:nvSpPr>
        <p:spPr>
          <a:xfrm>
            <a:off x="5577840" y="3493008"/>
            <a:ext cx="3108960" cy="594360"/>
          </a:xfrm>
          <a:prstGeom prst="rect">
            <a:avLst/>
          </a:prstGeom>
          <a:solidFill>
            <a:srgbClr val="FCF0EE"/>
          </a:solidFill>
          <a:ln w="12700">
            <a:solidFill>
              <a:srgbClr val="D6C4A8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5577840" y="3493008"/>
            <a:ext cx="64008" cy="594360"/>
          </a:xfrm>
          <a:prstGeom prst="rect">
            <a:avLst/>
          </a:prstGeom>
          <a:solidFill>
            <a:srgbClr val="B83232"/>
          </a:solidFill>
          <a:ln w="12700">
            <a:solidFill>
              <a:srgbClr val="B8323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715000" y="3547872"/>
            <a:ext cx="8229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8323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NCR42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583680" y="3547872"/>
            <a:ext cx="9144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B83232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$332.90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5715000" y="3822192"/>
            <a:ext cx="283464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9C7A5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−50% cliff from top</a:t>
            </a:r>
            <a:endParaRPr lang="en-US" sz="950" b="1" i="1" dirty="0">
              <a:solidFill>
                <a:srgbClr val="9C7A5E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8" name="Shape 25"/>
          <p:cNvSpPr/>
          <p:nvPr/>
        </p:nvSpPr>
        <p:spPr>
          <a:xfrm>
            <a:off x="365760" y="4069080"/>
            <a:ext cx="8503920" cy="749808"/>
          </a:xfrm>
          <a:prstGeom prst="rect">
            <a:avLst/>
          </a:prstGeom>
          <a:solidFill>
            <a:srgbClr val="2C1A0E"/>
          </a:solidFill>
          <a:ln w="12700">
            <a:solidFill>
              <a:srgbClr val="2C1A0E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94360" y="4133088"/>
            <a:ext cx="8092440" cy="594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9963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KEY RISK:  </a:t>
            </a:r>
            <a:r>
              <a:rPr lang="en-US" sz="1400" b="1" dirty="0">
                <a:solidFill>
                  <a:srgbClr val="D6C4A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Revenue is heavily concentrated in 2 categories (~$6M combined) and 2 SKUs. Seafood ($149K) generates 20× less than top categories </a:t>
            </a:r>
            <a:r>
              <a:rPr lang="en-AU" altLang="en-US" sz="1400" b="1" dirty="0">
                <a:solidFill>
                  <a:srgbClr val="D6C4A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;S</a:t>
            </a:r>
            <a:r>
              <a:rPr lang="en-US" sz="1400" b="1" dirty="0">
                <a:solidFill>
                  <a:srgbClr val="D6C4A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helf space reallocation is the fastest margin recovery lever.</a:t>
            </a:r>
            <a:endParaRPr lang="en-US" sz="1400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C1A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56032"/>
            <a:ext cx="822960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STRATEGIC RECOMMENDATIONS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49808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i="1" dirty="0">
                <a:solidFill>
                  <a:srgbClr val="D6C4A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5 evidence-based actions to drive growth, reduce risk, and fix underperformance</a:t>
            </a:r>
            <a:endParaRPr lang="en-US" sz="1600" b="1" i="1" dirty="0">
              <a:solidFill>
                <a:srgbClr val="D6C4A8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2286000" y="1097280"/>
            <a:ext cx="4572000" cy="36576"/>
          </a:xfrm>
          <a:prstGeom prst="rect">
            <a:avLst/>
          </a:prstGeom>
          <a:solidFill>
            <a:srgbClr val="7B4A2D"/>
          </a:solidFill>
          <a:ln w="12700">
            <a:solidFill>
              <a:srgbClr val="7B4A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61872"/>
            <a:ext cx="1600200" cy="3337560"/>
          </a:xfrm>
          <a:prstGeom prst="rect">
            <a:avLst/>
          </a:prstGeom>
          <a:solidFill>
            <a:srgbClr val="4A2C1A"/>
          </a:solidFill>
          <a:ln w="12700">
            <a:solidFill>
              <a:srgbClr val="7B4A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261872"/>
            <a:ext cx="1600200" cy="64008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99032"/>
            <a:ext cx="1417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9963A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01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365760" y="2103120"/>
            <a:ext cx="1417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Expand Type 3</a:t>
            </a:r>
            <a:endParaRPr lang="en-US" sz="1600" b="1" dirty="0">
              <a:solidFill>
                <a:srgbClr val="FFFFFF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0" name="Text 8"/>
          <p:cNvSpPr/>
          <p:nvPr/>
        </p:nvSpPr>
        <p:spPr>
          <a:xfrm>
            <a:off x="365760" y="3822192"/>
            <a:ext cx="14173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C9963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60–70% of budget</a:t>
            </a:r>
            <a:endParaRPr lang="en-US" sz="1200" b="1" i="1" dirty="0">
              <a:solidFill>
                <a:srgbClr val="C9963A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1993392" y="1627632"/>
            <a:ext cx="1600200" cy="2971800"/>
          </a:xfrm>
          <a:prstGeom prst="rect">
            <a:avLst/>
          </a:prstGeom>
          <a:solidFill>
            <a:srgbClr val="4A2C1A"/>
          </a:solidFill>
          <a:ln w="12700">
            <a:solidFill>
              <a:srgbClr val="7B4A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993392" y="1627632"/>
            <a:ext cx="1600200" cy="64008"/>
          </a:xfrm>
          <a:prstGeom prst="rect">
            <a:avLst/>
          </a:prstGeom>
          <a:solidFill>
            <a:srgbClr val="D6C4A8"/>
          </a:solidFill>
          <a:ln w="12700">
            <a:solidFill>
              <a:srgbClr val="D6C4A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084832" y="1764792"/>
            <a:ext cx="1417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D6C4A8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02</a:t>
            </a:r>
            <a:endParaRPr lang="en-US" sz="4200" dirty="0"/>
          </a:p>
        </p:txBody>
      </p:sp>
      <p:sp>
        <p:nvSpPr>
          <p:cNvPr id="14" name="Text 12"/>
          <p:cNvSpPr/>
          <p:nvPr/>
        </p:nvSpPr>
        <p:spPr>
          <a:xfrm>
            <a:off x="2084832" y="2468880"/>
            <a:ext cx="1417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Strengthen Core</a:t>
            </a:r>
            <a:endParaRPr lang="en-US" sz="1600" b="1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Categories</a:t>
            </a:r>
            <a:endParaRPr lang="en-US" sz="1600" b="1" dirty="0"/>
          </a:p>
        </p:txBody>
      </p:sp>
      <p:sp>
        <p:nvSpPr>
          <p:cNvPr id="15" name="Text 13"/>
          <p:cNvSpPr/>
          <p:nvPr/>
        </p:nvSpPr>
        <p:spPr>
          <a:xfrm>
            <a:off x="2084832" y="3822192"/>
            <a:ext cx="14173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D6C4A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+10–15% basket</a:t>
            </a:r>
            <a:endParaRPr lang="en-US" sz="1200" b="1" i="1" dirty="0">
              <a:solidFill>
                <a:srgbClr val="D6C4A8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3712464" y="1261872"/>
            <a:ext cx="1600200" cy="3337560"/>
          </a:xfrm>
          <a:prstGeom prst="rect">
            <a:avLst/>
          </a:prstGeom>
          <a:solidFill>
            <a:srgbClr val="4A2C1A"/>
          </a:solidFill>
          <a:ln w="12700">
            <a:solidFill>
              <a:srgbClr val="7B4A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712464" y="1261872"/>
            <a:ext cx="1600200" cy="64008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03904" y="1399032"/>
            <a:ext cx="1417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9963A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03</a:t>
            </a:r>
            <a:endParaRPr lang="en-US" sz="4200" dirty="0"/>
          </a:p>
        </p:txBody>
      </p:sp>
      <p:sp>
        <p:nvSpPr>
          <p:cNvPr id="19" name="Text 17"/>
          <p:cNvSpPr/>
          <p:nvPr/>
        </p:nvSpPr>
        <p:spPr>
          <a:xfrm>
            <a:off x="3803904" y="2103120"/>
            <a:ext cx="1417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Develop</a:t>
            </a:r>
            <a:endParaRPr lang="en-US" sz="1600" b="1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Second-Tier SKUs</a:t>
            </a:r>
            <a:endParaRPr lang="en-US" sz="1600" b="1" dirty="0"/>
          </a:p>
        </p:txBody>
      </p:sp>
      <p:sp>
        <p:nvSpPr>
          <p:cNvPr id="20" name="Text 18"/>
          <p:cNvSpPr/>
          <p:nvPr/>
        </p:nvSpPr>
        <p:spPr>
          <a:xfrm>
            <a:off x="3803904" y="3822192"/>
            <a:ext cx="14173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C9963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+10% uplift</a:t>
            </a:r>
            <a:endParaRPr lang="en-US" sz="1200" b="1" i="1" dirty="0">
              <a:solidFill>
                <a:srgbClr val="C9963A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431536" y="1627632"/>
            <a:ext cx="1600200" cy="2971800"/>
          </a:xfrm>
          <a:prstGeom prst="rect">
            <a:avLst/>
          </a:prstGeom>
          <a:solidFill>
            <a:srgbClr val="4A2C1A"/>
          </a:solidFill>
          <a:ln w="12700">
            <a:solidFill>
              <a:srgbClr val="7B4A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5431536" y="1627632"/>
            <a:ext cx="1600200" cy="64008"/>
          </a:xfrm>
          <a:prstGeom prst="rect">
            <a:avLst/>
          </a:prstGeom>
          <a:solidFill>
            <a:srgbClr val="D6C4A8"/>
          </a:solidFill>
          <a:ln w="12700">
            <a:solidFill>
              <a:srgbClr val="D6C4A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522976" y="1764792"/>
            <a:ext cx="1417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D6C4A8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04</a:t>
            </a:r>
            <a:endParaRPr lang="en-US" sz="4200" dirty="0"/>
          </a:p>
        </p:txBody>
      </p:sp>
      <p:sp>
        <p:nvSpPr>
          <p:cNvPr id="24" name="Text 22"/>
          <p:cNvSpPr/>
          <p:nvPr/>
        </p:nvSpPr>
        <p:spPr>
          <a:xfrm>
            <a:off x="5522976" y="2468880"/>
            <a:ext cx="1417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Test Grocery</a:t>
            </a:r>
            <a:endParaRPr lang="en-US" sz="1600" b="1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Channel</a:t>
            </a:r>
            <a:endParaRPr lang="en-US" sz="1600" b="1" dirty="0"/>
          </a:p>
        </p:txBody>
      </p:sp>
      <p:sp>
        <p:nvSpPr>
          <p:cNvPr id="25" name="Text 23"/>
          <p:cNvSpPr/>
          <p:nvPr/>
        </p:nvSpPr>
        <p:spPr>
          <a:xfrm>
            <a:off x="5522976" y="3822192"/>
            <a:ext cx="14173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D6C4A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25–40% benchmark</a:t>
            </a:r>
            <a:endParaRPr lang="en-US" sz="1200" b="1" i="1" dirty="0">
              <a:solidFill>
                <a:srgbClr val="D6C4A8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6" name="Shape 24"/>
          <p:cNvSpPr/>
          <p:nvPr/>
        </p:nvSpPr>
        <p:spPr>
          <a:xfrm>
            <a:off x="7150608" y="1261872"/>
            <a:ext cx="1600200" cy="3337560"/>
          </a:xfrm>
          <a:prstGeom prst="rect">
            <a:avLst/>
          </a:prstGeom>
          <a:solidFill>
            <a:srgbClr val="4A2C1A"/>
          </a:solidFill>
          <a:ln w="12700">
            <a:solidFill>
              <a:srgbClr val="7B4A2D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7150608" y="1261872"/>
            <a:ext cx="1600200" cy="64008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42048" y="1399032"/>
            <a:ext cx="1417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C9963A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05</a:t>
            </a:r>
            <a:endParaRPr lang="en-US" sz="4200" dirty="0"/>
          </a:p>
        </p:txBody>
      </p:sp>
      <p:sp>
        <p:nvSpPr>
          <p:cNvPr id="29" name="Text 27"/>
          <p:cNvSpPr/>
          <p:nvPr/>
        </p:nvSpPr>
        <p:spPr>
          <a:xfrm>
            <a:off x="7242048" y="2103120"/>
            <a:ext cx="141732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Optimise Low</a:t>
            </a:r>
            <a:endParaRPr lang="en-US" sz="1600" b="1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Categories</a:t>
            </a:r>
            <a:endParaRPr lang="en-US" sz="1600" b="1" dirty="0"/>
          </a:p>
        </p:txBody>
      </p:sp>
      <p:sp>
        <p:nvSpPr>
          <p:cNvPr id="30" name="Text 28"/>
          <p:cNvSpPr/>
          <p:nvPr/>
        </p:nvSpPr>
        <p:spPr>
          <a:xfrm>
            <a:off x="7242048" y="3822192"/>
            <a:ext cx="141732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i="1" dirty="0">
                <a:solidFill>
                  <a:srgbClr val="C9963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+15% or reallocate</a:t>
            </a:r>
            <a:endParaRPr lang="en-US" sz="1200" b="1" i="1" dirty="0">
              <a:solidFill>
                <a:srgbClr val="C9963A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-274320"/>
            <a:ext cx="22860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EDE0CE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07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A2C1A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RECOMMENDATIONS  01 &amp; 02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B07840"/>
          </a:solidFill>
          <a:ln w="12700">
            <a:solidFill>
              <a:srgbClr val="B078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804672"/>
            <a:ext cx="4160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4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02920" y="886968"/>
            <a:ext cx="457200" cy="457200"/>
          </a:xfrm>
          <a:prstGeom prst="rect">
            <a:avLst/>
          </a:prstGeom>
          <a:solidFill>
            <a:srgbClr val="4A2C1A"/>
          </a:solidFill>
          <a:ln w="12700">
            <a:solidFill>
              <a:srgbClr val="4A2C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8869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97280" y="914400"/>
            <a:ext cx="32461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2C1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Expand Supermarket Type 3</a:t>
            </a:r>
            <a:endParaRPr lang="en-US" sz="1600" b="1" dirty="0">
              <a:solidFill>
                <a:srgbClr val="4A2C1A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9" name="Text 7"/>
          <p:cNvSpPr/>
          <p:nvPr/>
        </p:nvSpPr>
        <p:spPr>
          <a:xfrm>
            <a:off x="521208" y="1463040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A2C1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WHY IT MATTERS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21208" y="1700784"/>
            <a:ext cx="384048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Type 3 generates $3.69M </a:t>
            </a:r>
            <a:r>
              <a:rPr lang="en-AU" altLang="en-US" sz="1200" b="1" i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O</a:t>
            </a:r>
            <a:r>
              <a:rPr lang="en-US" sz="1200" b="1" i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utperforming Type 1 by ~59% and Type 2 by ~85%. It is the most efficient revenue-generating format and strongest candidate for scalable growth.</a:t>
            </a:r>
            <a:endParaRPr lang="en-US" sz="1200" b="1" i="1" dirty="0">
              <a:solidFill>
                <a:srgbClr val="5C3D2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21208" y="2596896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4A2C1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ACTIONS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521208" y="2834640"/>
            <a:ext cx="3840480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Prioritise Type 3 in next budget cycle (60–70% of expansion budget)</a:t>
            </a:r>
            <a:endParaRPr lang="en-US" sz="1200" b="1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Comparative pricing, product mix &amp; layout analysis vs. other formats within 30 days</a:t>
            </a:r>
            <a:endParaRPr lang="en-US" sz="1200" b="1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Direct all promotional resources to this outlet as primary growth vehicle</a:t>
            </a:r>
            <a:endParaRPr lang="en-US" sz="1200" b="1" dirty="0"/>
          </a:p>
        </p:txBody>
      </p:sp>
      <p:sp>
        <p:nvSpPr>
          <p:cNvPr id="13" name="Shape 11"/>
          <p:cNvSpPr/>
          <p:nvPr/>
        </p:nvSpPr>
        <p:spPr>
          <a:xfrm>
            <a:off x="502920" y="4572000"/>
            <a:ext cx="3931920" cy="256032"/>
          </a:xfrm>
          <a:prstGeom prst="rect">
            <a:avLst/>
          </a:prstGeom>
          <a:solidFill>
            <a:srgbClr val="4A2C1A"/>
          </a:solidFill>
          <a:ln w="12700">
            <a:solidFill>
              <a:srgbClr val="4A2C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4581144"/>
            <a:ext cx="3776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TARGET: Scalable high-revenue model replicated across locations</a:t>
            </a:r>
            <a:endParaRPr lang="en-US" sz="1000" b="1" dirty="0">
              <a:solidFill>
                <a:srgbClr val="FFFFFF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5" name="Shape 13"/>
          <p:cNvSpPr/>
          <p:nvPr/>
        </p:nvSpPr>
        <p:spPr>
          <a:xfrm>
            <a:off x="4663440" y="804672"/>
            <a:ext cx="4160520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4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846320" y="886968"/>
            <a:ext cx="457200" cy="457200"/>
          </a:xfrm>
          <a:prstGeom prst="rect">
            <a:avLst/>
          </a:prstGeom>
          <a:solidFill>
            <a:srgbClr val="7B4A2D"/>
          </a:solidFill>
          <a:ln w="12700">
            <a:solidFill>
              <a:srgbClr val="7B4A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0" y="886968"/>
            <a:ext cx="4572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5440680" y="914400"/>
            <a:ext cx="3246120" cy="4206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C1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Strengthen Core Revenue Categories</a:t>
            </a:r>
            <a:endParaRPr lang="en-US" sz="1400" b="1" dirty="0">
              <a:solidFill>
                <a:srgbClr val="4A2C1A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4864608" y="1463040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7B4A2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WHY IT MATTERS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864608" y="1700784"/>
            <a:ext cx="3840480" cy="8412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Fruits &amp; Vegetables and Snack Foods each generate ~$3M </a:t>
            </a:r>
            <a:r>
              <a:rPr lang="en-AU" altLang="en-US" sz="1200" b="1" i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O</a:t>
            </a:r>
            <a:r>
              <a:rPr lang="en-US" sz="1200" b="1" i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ver 20× higher than Seafood ($149K). These are critical pillars of revenue stability.</a:t>
            </a:r>
            <a:endParaRPr lang="en-US" sz="1200" b="1" i="1" dirty="0">
              <a:solidFill>
                <a:srgbClr val="5C3D2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4864608" y="2596896"/>
            <a:ext cx="38404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200" dirty="0">
                <a:solidFill>
                  <a:srgbClr val="7B4A2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ACTIONS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4864608" y="2834640"/>
            <a:ext cx="3840480" cy="96926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Increase shelf space allocation by 20–30% across all outlets</a:t>
            </a:r>
            <a:endParaRPr lang="en-US" sz="1200" b="1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Launch bundled promotions targeting +10–15% average basket value within 30 days</a:t>
            </a:r>
            <a:endParaRPr lang="en-US" sz="1200" b="1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Monitor KPIs: category revenue growth (+10–15%), inventory turnover, basket size</a:t>
            </a:r>
            <a:endParaRPr lang="en-US" sz="1200" b="1" dirty="0"/>
          </a:p>
        </p:txBody>
      </p:sp>
      <p:sp>
        <p:nvSpPr>
          <p:cNvPr id="23" name="Shape 21"/>
          <p:cNvSpPr/>
          <p:nvPr/>
        </p:nvSpPr>
        <p:spPr>
          <a:xfrm>
            <a:off x="4846320" y="4572000"/>
            <a:ext cx="3931920" cy="256032"/>
          </a:xfrm>
          <a:prstGeom prst="rect">
            <a:avLst/>
          </a:prstGeom>
          <a:solidFill>
            <a:srgbClr val="7B4A2D"/>
          </a:solidFill>
          <a:ln w="12700">
            <a:solidFill>
              <a:srgbClr val="7B4A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4581144"/>
            <a:ext cx="377647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TARGET: +10–15% increase in average basket value</a:t>
            </a:r>
            <a:endParaRPr lang="en-US" sz="1000" b="1" dirty="0">
              <a:solidFill>
                <a:srgbClr val="FFFFFF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-274320"/>
            <a:ext cx="22860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EDE0CE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08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A2C1A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RECOMMENDATIONS  03, 04 &amp; 05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B07840"/>
          </a:solidFill>
          <a:ln w="12700">
            <a:solidFill>
              <a:srgbClr val="B078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92608" y="804672"/>
            <a:ext cx="276148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4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886968"/>
            <a:ext cx="438912" cy="438912"/>
          </a:xfrm>
          <a:prstGeom prst="rect">
            <a:avLst/>
          </a:prstGeom>
          <a:solidFill>
            <a:srgbClr val="4A2C1A"/>
          </a:solidFill>
          <a:ln w="12700">
            <a:solidFill>
              <a:srgbClr val="4A2C1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88696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03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1024128" y="914400"/>
            <a:ext cx="189280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C1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Develop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solidFill>
                  <a:srgbClr val="4A2C1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Second-Tier SKUs</a:t>
            </a:r>
            <a:endParaRPr lang="en-US" sz="1400" b="1" dirty="0"/>
          </a:p>
        </p:txBody>
      </p:sp>
      <p:sp>
        <p:nvSpPr>
          <p:cNvPr id="9" name="Text 7"/>
          <p:cNvSpPr/>
          <p:nvPr/>
        </p:nvSpPr>
        <p:spPr>
          <a:xfrm>
            <a:off x="475488" y="1664208"/>
            <a:ext cx="248716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4A2C1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WHY IT MATTERS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5488" y="1901952"/>
            <a:ext cx="24871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FDQ04 &amp; FDF38 dominate. NCR42 sits ~50% lower  a sharp cliff revealing high dependency risk and untapped growth.</a:t>
            </a:r>
            <a:endParaRPr lang="en-US" sz="1200" b="1" i="1" dirty="0">
              <a:solidFill>
                <a:srgbClr val="5C3D2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475488" y="2670048"/>
            <a:ext cx="248716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4A2C1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ACTIONS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75488" y="2907792"/>
            <a:ext cx="2487168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Cross-merchandising with top SKUs → +10% uplift</a:t>
            </a:r>
            <a:endParaRPr lang="en-US" sz="1000" b="1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Pricing/discount trials (5–10%) to test demand sensitivity</a:t>
            </a:r>
            <a:endParaRPr lang="en-US" sz="1000" b="1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2560320" cy="256032"/>
          </a:xfrm>
          <a:prstGeom prst="rect">
            <a:avLst/>
          </a:prstGeom>
          <a:solidFill>
            <a:srgbClr val="4A2C1A"/>
          </a:solidFill>
          <a:ln w="12700">
            <a:solidFill>
              <a:srgbClr val="4A2C1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4581144"/>
            <a:ext cx="241401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TARGET: +10% visibility-driven sales uplift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191256" y="804672"/>
            <a:ext cx="276148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4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355848" y="886968"/>
            <a:ext cx="438912" cy="438912"/>
          </a:xfrm>
          <a:prstGeom prst="rect">
            <a:avLst/>
          </a:prstGeom>
          <a:solidFill>
            <a:srgbClr val="7B4A2D"/>
          </a:solidFill>
          <a:ln w="12700">
            <a:solidFill>
              <a:srgbClr val="7B4A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55848" y="88696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04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3922776" y="914400"/>
            <a:ext cx="189280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C1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Test Grocery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solidFill>
                  <a:srgbClr val="4A2C1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Store Channel</a:t>
            </a:r>
            <a:endParaRPr lang="en-US" sz="1400" b="1" dirty="0"/>
          </a:p>
        </p:txBody>
      </p:sp>
      <p:sp>
        <p:nvSpPr>
          <p:cNvPr id="19" name="Text 17"/>
          <p:cNvSpPr/>
          <p:nvPr/>
        </p:nvSpPr>
        <p:spPr>
          <a:xfrm>
            <a:off x="3374136" y="1664208"/>
            <a:ext cx="248716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7B4A2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WHY IT MATTERS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374136" y="1901952"/>
            <a:ext cx="24871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At $339.83, this channel is &lt;10% of Type 3 revenue </a:t>
            </a:r>
            <a:r>
              <a:rPr lang="en-AU" altLang="en-US" sz="1200" b="1" i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</a:t>
            </a:r>
            <a:r>
              <a:rPr lang="en-US" sz="1200" b="1" i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uggesting misallocated inventory and staffing resources.</a:t>
            </a:r>
            <a:endParaRPr lang="en-US" sz="1200" b="1" i="1" dirty="0">
              <a:solidFill>
                <a:srgbClr val="5C3D2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1" name="Text 19"/>
          <p:cNvSpPr/>
          <p:nvPr/>
        </p:nvSpPr>
        <p:spPr>
          <a:xfrm>
            <a:off x="3374136" y="2670048"/>
            <a:ext cx="248716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7B4A2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ACTIONS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374136" y="2907792"/>
            <a:ext cx="2487168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2-month performance test</a:t>
            </a:r>
            <a:endParaRPr lang="en-US" sz="1200" b="1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Benchmark: +25–40% revenue growth</a:t>
            </a:r>
            <a:endParaRPr lang="en-US" sz="1200" b="1" dirty="0"/>
          </a:p>
          <a:p>
            <a:pPr marL="342900" indent="-342900">
              <a:buSzPct val="100000"/>
              <a:buChar char="•"/>
            </a:pPr>
            <a:r>
              <a:rPr lang="en-US" sz="12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Reallocate 30–50% of resources if target not met</a:t>
            </a:r>
            <a:endParaRPr lang="en-US" sz="1200" b="1" dirty="0"/>
          </a:p>
        </p:txBody>
      </p:sp>
      <p:sp>
        <p:nvSpPr>
          <p:cNvPr id="23" name="Shape 21"/>
          <p:cNvSpPr/>
          <p:nvPr/>
        </p:nvSpPr>
        <p:spPr>
          <a:xfrm>
            <a:off x="3355848" y="4572000"/>
            <a:ext cx="2560320" cy="256032"/>
          </a:xfrm>
          <a:prstGeom prst="rect">
            <a:avLst/>
          </a:prstGeom>
          <a:solidFill>
            <a:srgbClr val="7B4A2D"/>
          </a:solidFill>
          <a:ln w="12700">
            <a:solidFill>
              <a:srgbClr val="7B4A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47288" y="4581144"/>
            <a:ext cx="241401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TARGET: 25–40% growth or resource reallocation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089904" y="804672"/>
            <a:ext cx="2761488" cy="4114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6C4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254496" y="886968"/>
            <a:ext cx="438912" cy="438912"/>
          </a:xfrm>
          <a:prstGeom prst="rect">
            <a:avLst/>
          </a:prstGeom>
          <a:solidFill>
            <a:srgbClr val="B07840"/>
          </a:solidFill>
          <a:ln w="12700">
            <a:solidFill>
              <a:srgbClr val="B0784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54496" y="886968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05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6821424" y="914400"/>
            <a:ext cx="1892808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2C1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Optimise Low-</a:t>
            </a:r>
            <a:endParaRPr lang="en-US" sz="1400" b="1" dirty="0"/>
          </a:p>
          <a:p>
            <a:pPr marL="0" indent="0">
              <a:buNone/>
            </a:pPr>
            <a:r>
              <a:rPr lang="en-US" sz="1400" b="1" dirty="0">
                <a:solidFill>
                  <a:srgbClr val="4A2C1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Performing Categories</a:t>
            </a:r>
            <a:endParaRPr lang="en-US" sz="1400" b="1" dirty="0"/>
          </a:p>
        </p:txBody>
      </p:sp>
      <p:sp>
        <p:nvSpPr>
          <p:cNvPr id="29" name="Text 27"/>
          <p:cNvSpPr/>
          <p:nvPr/>
        </p:nvSpPr>
        <p:spPr>
          <a:xfrm>
            <a:off x="6272784" y="1664208"/>
            <a:ext cx="248716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B0784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WHY IT MATTERS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72784" y="1901952"/>
            <a:ext cx="2487168" cy="7132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i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Seafood ($149K) generates 20× less than top categories  </a:t>
            </a:r>
            <a:r>
              <a:rPr lang="en-AU" altLang="en-US" sz="1200" b="1" i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in</a:t>
            </a:r>
            <a:r>
              <a:rPr lang="en-US" sz="1200" b="1" i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efficient use of shelf space and working capital.</a:t>
            </a:r>
            <a:endParaRPr lang="en-US" sz="1200" b="1" dirty="0"/>
          </a:p>
        </p:txBody>
      </p:sp>
      <p:sp>
        <p:nvSpPr>
          <p:cNvPr id="31" name="Text 29"/>
          <p:cNvSpPr/>
          <p:nvPr/>
        </p:nvSpPr>
        <p:spPr>
          <a:xfrm>
            <a:off x="6272784" y="2670048"/>
            <a:ext cx="2487168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kern="0" spc="200" dirty="0">
                <a:solidFill>
                  <a:srgbClr val="B0784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ACTIONS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6272784" y="2907792"/>
            <a:ext cx="2487168" cy="8961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Reduce inventory 20–40% in test outlets</a:t>
            </a:r>
            <a:endParaRPr lang="en-US" sz="1000" b="1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Reallocate shelf space to top performers</a:t>
            </a:r>
            <a:endParaRPr lang="en-US" sz="1000" b="1" dirty="0"/>
          </a:p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Run targeted promotions  target +15% before further cuts</a:t>
            </a:r>
            <a:endParaRPr lang="en-US" sz="1000" b="1" dirty="0"/>
          </a:p>
        </p:txBody>
      </p:sp>
      <p:sp>
        <p:nvSpPr>
          <p:cNvPr id="33" name="Shape 31"/>
          <p:cNvSpPr/>
          <p:nvPr/>
        </p:nvSpPr>
        <p:spPr>
          <a:xfrm>
            <a:off x="6254496" y="4572000"/>
            <a:ext cx="2560320" cy="256032"/>
          </a:xfrm>
          <a:prstGeom prst="rect">
            <a:avLst/>
          </a:prstGeom>
          <a:solidFill>
            <a:srgbClr val="B07840"/>
          </a:solidFill>
          <a:ln w="12700">
            <a:solidFill>
              <a:srgbClr val="B0784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45936" y="4581144"/>
            <a:ext cx="2414016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TARGET: +15% recovery or full shelf reallocation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182880" y="-274320"/>
            <a:ext cx="22860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EDE0CE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09</a:t>
            </a:r>
            <a:endParaRPr lang="en-US" sz="12000" dirty="0"/>
          </a:p>
        </p:txBody>
      </p:sp>
      <p:sp>
        <p:nvSpPr>
          <p:cNvPr id="3" name="Text 1"/>
          <p:cNvSpPr/>
          <p:nvPr/>
        </p:nvSpPr>
        <p:spPr>
          <a:xfrm>
            <a:off x="411480" y="256032"/>
            <a:ext cx="7772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4A2C1A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IMPLEMENTATION TIMELINE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11480" y="621792"/>
            <a:ext cx="77724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i="1" dirty="0">
                <a:solidFill>
                  <a:srgbClr val="12121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 phased 12-month roadmap from quick wins to sustained growth</a:t>
            </a:r>
            <a:endParaRPr lang="en-US" sz="1600" b="1" i="1" dirty="0">
              <a:solidFill>
                <a:srgbClr val="121212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5" name="Shape 3"/>
          <p:cNvSpPr/>
          <p:nvPr/>
        </p:nvSpPr>
        <p:spPr>
          <a:xfrm>
            <a:off x="8915400" y="0"/>
            <a:ext cx="228600" cy="5143500"/>
          </a:xfrm>
          <a:prstGeom prst="rect">
            <a:avLst/>
          </a:prstGeom>
          <a:solidFill>
            <a:srgbClr val="B07840"/>
          </a:solidFill>
          <a:ln w="12700">
            <a:solidFill>
              <a:srgbClr val="B0784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901952"/>
            <a:ext cx="8321040" cy="54864"/>
          </a:xfrm>
          <a:prstGeom prst="rect">
            <a:avLst/>
          </a:prstGeom>
          <a:solidFill>
            <a:srgbClr val="EDE0CE"/>
          </a:solidFill>
          <a:ln w="12700">
            <a:solidFill>
              <a:srgbClr val="EDE0C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41832" y="1719072"/>
            <a:ext cx="347472" cy="347472"/>
          </a:xfrm>
          <a:prstGeom prst="ellipse">
            <a:avLst/>
          </a:prstGeom>
          <a:solidFill>
            <a:srgbClr val="4A2C1A"/>
          </a:solidFill>
          <a:ln w="12700">
            <a:solidFill>
              <a:srgbClr val="4A2C1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987552"/>
            <a:ext cx="1508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A2C1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Days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4A2C1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0–30</a:t>
            </a:r>
            <a:endParaRPr lang="en-US" sz="1200" b="1" dirty="0"/>
          </a:p>
        </p:txBody>
      </p:sp>
      <p:sp>
        <p:nvSpPr>
          <p:cNvPr id="9" name="Shape 7"/>
          <p:cNvSpPr/>
          <p:nvPr/>
        </p:nvSpPr>
        <p:spPr>
          <a:xfrm>
            <a:off x="438912" y="2176272"/>
            <a:ext cx="1536192" cy="2542032"/>
          </a:xfrm>
          <a:prstGeom prst="rect">
            <a:avLst/>
          </a:prstGeom>
          <a:solidFill>
            <a:srgbClr val="FAF6F1"/>
          </a:solidFill>
          <a:ln w="12700">
            <a:solidFill>
              <a:srgbClr val="D6C4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" y="2176272"/>
            <a:ext cx="1536192" cy="64008"/>
          </a:xfrm>
          <a:prstGeom prst="rect">
            <a:avLst/>
          </a:prstGeom>
          <a:solidFill>
            <a:srgbClr val="4A2C1A"/>
          </a:solidFill>
          <a:ln w="12700">
            <a:solidFill>
              <a:srgbClr val="4A2C1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267712"/>
            <a:ext cx="1325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2C1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Quick Wins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651760"/>
            <a:ext cx="13258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Outlet analysis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Shelf audit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Margin review</a:t>
            </a:r>
            <a:endParaRPr lang="en-US" sz="1200" b="1" dirty="0"/>
          </a:p>
        </p:txBody>
      </p:sp>
      <p:sp>
        <p:nvSpPr>
          <p:cNvPr id="13" name="Shape 11"/>
          <p:cNvSpPr/>
          <p:nvPr/>
        </p:nvSpPr>
        <p:spPr>
          <a:xfrm>
            <a:off x="2624328" y="1719072"/>
            <a:ext cx="347472" cy="347472"/>
          </a:xfrm>
          <a:prstGeom prst="ellipse">
            <a:avLst/>
          </a:prstGeom>
          <a:solidFill>
            <a:srgbClr val="7B4A2D"/>
          </a:solidFill>
          <a:ln w="12700">
            <a:solidFill>
              <a:srgbClr val="7B4A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21408" y="987552"/>
            <a:ext cx="1508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7B4A2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Days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7B4A2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30–60</a:t>
            </a:r>
            <a:endParaRPr lang="en-US" sz="1200" b="1" dirty="0"/>
          </a:p>
        </p:txBody>
      </p:sp>
      <p:sp>
        <p:nvSpPr>
          <p:cNvPr id="15" name="Shape 13"/>
          <p:cNvSpPr/>
          <p:nvPr/>
        </p:nvSpPr>
        <p:spPr>
          <a:xfrm>
            <a:off x="2121408" y="2176272"/>
            <a:ext cx="1536192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4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121408" y="2176272"/>
            <a:ext cx="1536192" cy="64008"/>
          </a:xfrm>
          <a:prstGeom prst="rect">
            <a:avLst/>
          </a:prstGeom>
          <a:solidFill>
            <a:srgbClr val="7B4A2D"/>
          </a:solidFill>
          <a:ln w="12700">
            <a:solidFill>
              <a:srgbClr val="7B4A2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31136" y="2267712"/>
            <a:ext cx="1325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B4A2D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Promotions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231136" y="2651760"/>
            <a:ext cx="13258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Bundle deals live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SKU cross-sell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Discount trials</a:t>
            </a:r>
            <a:endParaRPr lang="en-US" sz="1200" b="1" dirty="0"/>
          </a:p>
        </p:txBody>
      </p:sp>
      <p:sp>
        <p:nvSpPr>
          <p:cNvPr id="19" name="Shape 17"/>
          <p:cNvSpPr/>
          <p:nvPr/>
        </p:nvSpPr>
        <p:spPr>
          <a:xfrm>
            <a:off x="4306824" y="1719072"/>
            <a:ext cx="347472" cy="347472"/>
          </a:xfrm>
          <a:prstGeom prst="ellipse">
            <a:avLst/>
          </a:prstGeom>
          <a:solidFill>
            <a:srgbClr val="B07840"/>
          </a:solidFill>
          <a:ln w="12700">
            <a:solidFill>
              <a:srgbClr val="B0784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03904" y="987552"/>
            <a:ext cx="1508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B0784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Days</a:t>
            </a:r>
            <a:endParaRPr lang="en-US" sz="1200" b="1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B0784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60–120</a:t>
            </a:r>
            <a:endParaRPr lang="en-US" sz="1200" b="1" dirty="0"/>
          </a:p>
        </p:txBody>
      </p:sp>
      <p:sp>
        <p:nvSpPr>
          <p:cNvPr id="21" name="Shape 19"/>
          <p:cNvSpPr/>
          <p:nvPr/>
        </p:nvSpPr>
        <p:spPr>
          <a:xfrm>
            <a:off x="3803904" y="2176272"/>
            <a:ext cx="1536192" cy="2542032"/>
          </a:xfrm>
          <a:prstGeom prst="rect">
            <a:avLst/>
          </a:prstGeom>
          <a:solidFill>
            <a:srgbClr val="FAF6F1"/>
          </a:solidFill>
          <a:ln w="12700">
            <a:solidFill>
              <a:srgbClr val="D6C4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03904" y="2176272"/>
            <a:ext cx="1536192" cy="64008"/>
          </a:xfrm>
          <a:prstGeom prst="rect">
            <a:avLst/>
          </a:prstGeom>
          <a:solidFill>
            <a:srgbClr val="B07840"/>
          </a:solidFill>
          <a:ln w="12700">
            <a:solidFill>
              <a:srgbClr val="B0784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913632" y="2267712"/>
            <a:ext cx="1325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0784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Channel Test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913632" y="2651760"/>
            <a:ext cx="13258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Grocery Store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2-month test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Weekly tracking</a:t>
            </a:r>
            <a:endParaRPr lang="en-US" sz="1200" b="1" dirty="0"/>
          </a:p>
        </p:txBody>
      </p:sp>
      <p:sp>
        <p:nvSpPr>
          <p:cNvPr id="25" name="Shape 23"/>
          <p:cNvSpPr/>
          <p:nvPr/>
        </p:nvSpPr>
        <p:spPr>
          <a:xfrm>
            <a:off x="5989320" y="1719072"/>
            <a:ext cx="347472" cy="347472"/>
          </a:xfrm>
          <a:prstGeom prst="ellipse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0" y="987552"/>
            <a:ext cx="1508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C9963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Days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C9963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120–180</a:t>
            </a:r>
            <a:endParaRPr lang="en-US" sz="1400" b="1" dirty="0"/>
          </a:p>
        </p:txBody>
      </p:sp>
      <p:sp>
        <p:nvSpPr>
          <p:cNvPr id="27" name="Shape 25"/>
          <p:cNvSpPr/>
          <p:nvPr/>
        </p:nvSpPr>
        <p:spPr>
          <a:xfrm>
            <a:off x="5486400" y="2176272"/>
            <a:ext cx="1536192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6C4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486400" y="2176272"/>
            <a:ext cx="1536192" cy="64008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96128" y="2267712"/>
            <a:ext cx="1325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9963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Review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596128" y="2651760"/>
            <a:ext cx="13258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Assess Grocery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Inventory cuts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20–40% reduction</a:t>
            </a:r>
            <a:endParaRPr lang="en-US" sz="1200" b="1" dirty="0"/>
          </a:p>
        </p:txBody>
      </p:sp>
      <p:sp>
        <p:nvSpPr>
          <p:cNvPr id="31" name="Shape 29"/>
          <p:cNvSpPr/>
          <p:nvPr/>
        </p:nvSpPr>
        <p:spPr>
          <a:xfrm>
            <a:off x="7671816" y="1719072"/>
            <a:ext cx="347472" cy="347472"/>
          </a:xfrm>
          <a:prstGeom prst="ellipse">
            <a:avLst/>
          </a:prstGeom>
          <a:solidFill>
            <a:srgbClr val="9C7A5E"/>
          </a:solidFill>
          <a:ln w="12700">
            <a:solidFill>
              <a:srgbClr val="9C7A5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168896" y="987552"/>
            <a:ext cx="1508760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9C7A5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Days</a:t>
            </a:r>
            <a:endParaRPr lang="en-US" sz="1400" b="1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9C7A5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180–365</a:t>
            </a:r>
            <a:endParaRPr lang="en-US" sz="1400" b="1" dirty="0"/>
          </a:p>
        </p:txBody>
      </p:sp>
      <p:sp>
        <p:nvSpPr>
          <p:cNvPr id="33" name="Shape 31"/>
          <p:cNvSpPr/>
          <p:nvPr/>
        </p:nvSpPr>
        <p:spPr>
          <a:xfrm>
            <a:off x="7168896" y="2176272"/>
            <a:ext cx="1536192" cy="2542032"/>
          </a:xfrm>
          <a:prstGeom prst="rect">
            <a:avLst/>
          </a:prstGeom>
          <a:solidFill>
            <a:srgbClr val="FAF6F1"/>
          </a:solidFill>
          <a:ln w="12700">
            <a:solidFill>
              <a:srgbClr val="D6C4A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168896" y="2176272"/>
            <a:ext cx="1536192" cy="64008"/>
          </a:xfrm>
          <a:prstGeom prst="rect">
            <a:avLst/>
          </a:prstGeom>
          <a:solidFill>
            <a:srgbClr val="9C7A5E"/>
          </a:solidFill>
          <a:ln w="12700">
            <a:solidFill>
              <a:srgbClr val="9C7A5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278624" y="2267712"/>
            <a:ext cx="132588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C7A5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Scale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278624" y="2651760"/>
            <a:ext cx="1325880" cy="9601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Type 3 expansion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Shelf reallocation</a:t>
            </a:r>
            <a:endParaRPr lang="en-US" sz="1200" b="1" dirty="0"/>
          </a:p>
          <a:p>
            <a:pPr marL="0" indent="0">
              <a:buNone/>
            </a:pPr>
            <a:r>
              <a:rPr lang="en-US" sz="1200" b="1" dirty="0">
                <a:solidFill>
                  <a:srgbClr val="5C3D22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Qtly KPIs</a:t>
            </a:r>
            <a:endParaRPr lang="en-US" sz="12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4A2C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47488"/>
            <a:ext cx="9144000" cy="96012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18288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rgbClr val="7B4A2D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“</a:t>
            </a:r>
            <a:endParaRPr lang="en-US" sz="12000" dirty="0"/>
          </a:p>
        </p:txBody>
      </p:sp>
      <p:sp>
        <p:nvSpPr>
          <p:cNvPr id="5" name="Text 3"/>
          <p:cNvSpPr/>
          <p:nvPr/>
        </p:nvSpPr>
        <p:spPr>
          <a:xfrm>
            <a:off x="914400" y="320040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500" dirty="0">
                <a:solidFill>
                  <a:srgbClr val="C9963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KEY TAKEAWAYS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731520" y="658368"/>
            <a:ext cx="7680960" cy="1417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Real Resilience.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0"/>
                <a:cs typeface="Georgia" pitchFamily="34" charset="0"/>
              </a:rPr>
              <a:t>Clear Growth Levers.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371600" y="2121408"/>
            <a:ext cx="6400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i="1" dirty="0">
                <a:solidFill>
                  <a:srgbClr val="D6C4A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The business has proven it can recover. The data shows exactly where to act.</a:t>
            </a:r>
            <a:endParaRPr lang="en-US" sz="1400" b="1" i="1" dirty="0">
              <a:solidFill>
                <a:srgbClr val="D6C4A8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8" name="Shape 6"/>
          <p:cNvSpPr/>
          <p:nvPr/>
        </p:nvSpPr>
        <p:spPr>
          <a:xfrm>
            <a:off x="384048" y="2633472"/>
            <a:ext cx="2743200" cy="2075688"/>
          </a:xfrm>
          <a:prstGeom prst="rect">
            <a:avLst/>
          </a:prstGeom>
          <a:solidFill>
            <a:srgbClr val="2C1A0E"/>
          </a:solidFill>
          <a:ln w="12700">
            <a:solidFill>
              <a:srgbClr val="7B4A2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84048" y="2633472"/>
            <a:ext cx="2743200" cy="64008"/>
          </a:xfrm>
          <a:prstGeom prst="rect">
            <a:avLst/>
          </a:prstGeom>
          <a:solidFill>
            <a:srgbClr val="C9963A"/>
          </a:solidFill>
          <a:ln w="12700">
            <a:solidFill>
              <a:srgbClr val="C9963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761488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9963A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Resilient Core</a:t>
            </a:r>
            <a:endParaRPr lang="en-US" sz="1600" b="1" dirty="0">
              <a:solidFill>
                <a:srgbClr val="C9963A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548640" y="3182112"/>
            <a:ext cx="24231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C4A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873% recovery from 1998 lows. The fundamentals are sound </a:t>
            </a:r>
            <a:r>
              <a:rPr lang="en-AU" altLang="en-US" sz="1200" b="1" dirty="0">
                <a:solidFill>
                  <a:srgbClr val="D6C4A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S</a:t>
            </a:r>
            <a:r>
              <a:rPr lang="en-US" sz="1200" b="1" dirty="0">
                <a:solidFill>
                  <a:srgbClr val="D6C4A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hocks are survivable.</a:t>
            </a:r>
            <a:endParaRPr lang="en-US" sz="1200" b="1" dirty="0">
              <a:solidFill>
                <a:srgbClr val="D6C4A8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3291840" y="2633472"/>
            <a:ext cx="2743200" cy="2075688"/>
          </a:xfrm>
          <a:prstGeom prst="rect">
            <a:avLst/>
          </a:prstGeom>
          <a:solidFill>
            <a:srgbClr val="2C1A0E"/>
          </a:solidFill>
          <a:ln w="12700">
            <a:solidFill>
              <a:srgbClr val="7B4A2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2633472"/>
            <a:ext cx="2743200" cy="64008"/>
          </a:xfrm>
          <a:prstGeom prst="rect">
            <a:avLst/>
          </a:prstGeom>
          <a:solidFill>
            <a:srgbClr val="D6C4A8"/>
          </a:solidFill>
          <a:ln w="12700">
            <a:solidFill>
              <a:srgbClr val="D6C4A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56432" y="2761488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6C4A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Concentrated Strengths</a:t>
            </a:r>
            <a:endParaRPr lang="en-US" sz="1400" b="1" dirty="0">
              <a:solidFill>
                <a:srgbClr val="D6C4A8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3456432" y="3182112"/>
            <a:ext cx="24231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C4A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Type 3 + Fruits/Veg + Snack Foods = the growth engine. Invest here first.</a:t>
            </a:r>
            <a:endParaRPr lang="en-US" sz="1200" b="1" dirty="0">
              <a:solidFill>
                <a:srgbClr val="D6C4A8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199632" y="2633472"/>
            <a:ext cx="2743200" cy="2075688"/>
          </a:xfrm>
          <a:prstGeom prst="rect">
            <a:avLst/>
          </a:prstGeom>
          <a:solidFill>
            <a:srgbClr val="2C1A0E"/>
          </a:solidFill>
          <a:ln w="12700">
            <a:solidFill>
              <a:srgbClr val="7B4A2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199632" y="2633472"/>
            <a:ext cx="2743200" cy="64008"/>
          </a:xfrm>
          <a:prstGeom prst="rect">
            <a:avLst/>
          </a:prstGeom>
          <a:solidFill>
            <a:srgbClr val="B07840"/>
          </a:solidFill>
          <a:ln w="12700">
            <a:solidFill>
              <a:srgbClr val="B0784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64224" y="2761488"/>
            <a:ext cx="24231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07840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Fixable Drains</a:t>
            </a:r>
            <a:endParaRPr lang="en-US" sz="1400" b="1" dirty="0">
              <a:solidFill>
                <a:srgbClr val="B07840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6364224" y="3182112"/>
            <a:ext cx="2423160" cy="12801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C4A8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Grocery Store + Seafood are solvable. Structural changes unlock profit in 180 days.</a:t>
            </a:r>
            <a:endParaRPr lang="en-US" sz="1200" b="1" dirty="0">
              <a:solidFill>
                <a:srgbClr val="D6C4A8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457200" y="4828032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C7A5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Brown's Mini Store  ·  Sales &amp; Performance Analysis  ·  Data Analytics Portfolio  ·  202</a:t>
            </a:r>
            <a:r>
              <a:rPr lang="en-AU" altLang="en-US" sz="900" dirty="0">
                <a:solidFill>
                  <a:srgbClr val="9C7A5E"/>
                </a:solidFill>
                <a:latin typeface="Calibri" pitchFamily="34" charset="0"/>
                <a:ea typeface="Calibri" pitchFamily="34" charset="0"/>
                <a:cs typeface="Calibri" pitchFamily="34" charset="0"/>
              </a:rPr>
              <a:t>5</a:t>
            </a:r>
            <a:endParaRPr lang="en-AU" altLang="en-US" sz="900" dirty="0">
              <a:solidFill>
                <a:srgbClr val="9C7A5E"/>
              </a:solidFill>
              <a:latin typeface="Calibri" pitchFamily="34" charset="0"/>
              <a:ea typeface="Calibri" pitchFamily="34" charset="0"/>
              <a:cs typeface="Calibri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/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6" baseType="lpstr">
      <vt:lpstr>Arial</vt:lpstr>
      <vt:lpstr>SimSun</vt:lpstr>
      <vt:lpstr>Wingdings</vt:lpstr>
      <vt:lpstr>Georgia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Brown's Mini Store — Sales Analysis</dc:title>
  <dc:creator>PptxGenJS</dc:creator>
  <dc:subject>PptxGenJS Presentation</dc:subject>
  <cp:lastModifiedBy>iPhone</cp:lastModifiedBy>
  <cp:revision>1</cp:revision>
  <dcterms:created xsi:type="dcterms:W3CDTF">1900-01-01T00:00:00Z</dcterms:created>
  <dcterms:modified xsi:type="dcterms:W3CDTF">1900-01-01T00:00:00Z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DCA9B55017B9B653937EE36916581BBE_32</vt:lpwstr>
  </property>
  <property fmtid="{D5CDD505-2E9C-101B-9397-08002B2CF9AE}" pid="3" name="KSOProductBuildVer">
    <vt:lpwstr>3081-11.37.40</vt:lpwstr>
  </property>
</Properties>
</file>